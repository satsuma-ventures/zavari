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The tools exist.</a:t>
            </a:r>
            <a:endParaRPr lang="en-US" sz="4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What's missing is the OS</a:t>
            </a:r>
            <a:endParaRPr lang="en-US" sz="4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that makes them work as one.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Zavari — Strategic Intelligence for Product Organizations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572000"/>
            <a:ext cx="822960" cy="8440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Individual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212080" y="384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Institutional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Answers questions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2704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Synthesizes one source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8541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Individual productivity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8686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Surfaces what you didn't know to 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52704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Triangulates across many sources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218541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Organizational intelligence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658368"/>
          </a:xfrm>
          <a:prstGeom prst="rect">
            <a:avLst/>
          </a:prstGeom>
          <a:solidFill>
            <a:srgbClr val="132C52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9923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017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product leaders say most AI tools target individual, not team, productivity — and rank it as their top AI ROI blocker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AI made every individual 10× more productive.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No company became 10× more valuable.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George Sivulka, a16z — March 2026  ·  Forrester / HBR Analytic Services, September 2025 (Miro-commissioned, n=518 / n=332)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Every quarter, your CPO manually synthesizes this.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621792" cy="6217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810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Dovetail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20848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customers say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325880"/>
            <a:ext cx="621792" cy="6217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3258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65960" y="19933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Amplitude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26771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customers 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1097280"/>
            <a:ext cx="621792" cy="6217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0972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1764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Crayon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03911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market's doing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1371600"/>
            <a:ext cx="621792" cy="6217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371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20391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3134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prospects are asking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1143000"/>
            <a:ext cx="621792" cy="6217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1430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1810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20848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 decided last quarter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26974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F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None of these talk to each other.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3840480" cy="8686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87%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691640" y="3291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say highly effective product development is critical to business success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200400"/>
            <a:ext cx="3840480" cy="868680"/>
          </a:xfrm>
          <a:prstGeom prst="rect">
            <a:avLst/>
          </a:prstGeom>
          <a:solidFill>
            <a:srgbClr val="0A1F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080760" y="3291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their organization's approach as highly effective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Forrester / HBR Analytic Services, September 2025 (Miro-commissioned, n=328–332)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Strategic planning without institutional memory has real costs.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554480"/>
          </a:xfrm>
          <a:prstGeom prst="rect">
            <a:avLst/>
          </a:prstGeom>
          <a:solidFill>
            <a:srgbClr val="132C52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Decisions-to-delivery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in quarters, not weeks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114800" cy="1554480"/>
          </a:xfrm>
          <a:prstGeom prst="rect">
            <a:avLst/>
          </a:prstGeom>
          <a:solidFill>
            <a:srgbClr val="132C52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Institutional memory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Leaves with every VP of Product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4114800" cy="1554480"/>
          </a:xfrm>
          <a:prstGeom prst="rect">
            <a:avLst/>
          </a:prstGeom>
          <a:solidFill>
            <a:srgbClr val="132C52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Translation cost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handoff from signal to recommendation degrades fidelity — the CPO who synthesizes manually is doing information routing, not strategy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88920"/>
            <a:ext cx="4114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Requires either a $50K–$500K consulting engagement or a very experienced CPO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988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The choice has been: fly blind, synthesize manually, or pay a consultant. Zavari is the fourth option.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Zavari is the operating system</a:t>
            </a:r>
            <a:endParaRPr lang="en-US" sz="3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for strategic product decisions.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6400800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5544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Intelligence 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186537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Watches continuously — surfaces what nobody asked for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223113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395728"/>
            <a:ext cx="6400800" cy="749808"/>
          </a:xfrm>
          <a:prstGeom prst="rect">
            <a:avLst/>
          </a:prstGeom>
          <a:solidFill>
            <a:srgbClr val="1B3461"/>
          </a:solidFill>
          <a:ln w="12700">
            <a:solidFill>
              <a:srgbClr val="2A46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4871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of Record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79806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Captures what was decided and why, permanently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316382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328416"/>
            <a:ext cx="6400800" cy="749808"/>
          </a:xfrm>
          <a:prstGeom prst="rect">
            <a:avLst/>
          </a:prstGeom>
          <a:solidFill>
            <a:srgbClr val="1B3461"/>
          </a:solidFill>
          <a:ln w="12700">
            <a:solidFill>
              <a:srgbClr val="2A46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4198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Operating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7307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Connects existing tools into one intelligence workflow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 tool. Not a platform. An OS — in the full sense of the metaphor.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The Triangulation Engine.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08960" y="1417320"/>
            <a:ext cx="-2194560" cy="1508760"/>
          </a:xfrm>
          <a:prstGeom prst="line">
            <a:avLst/>
          </a:prstGeom>
          <a:noFill/>
          <a:ln w="19050">
            <a:solidFill>
              <a:srgbClr val="E0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926080"/>
            <a:ext cx="4389120" cy="0"/>
          </a:xfrm>
          <a:prstGeom prst="line">
            <a:avLst/>
          </a:prstGeom>
          <a:noFill/>
          <a:ln w="19050">
            <a:solidFill>
              <a:srgbClr val="E0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1417320"/>
            <a:ext cx="2194560" cy="1508760"/>
          </a:xfrm>
          <a:prstGeom prst="line">
            <a:avLst/>
          </a:prstGeom>
          <a:noFill/>
          <a:ln w="19050">
            <a:solidFill>
              <a:srgbClr val="E0E6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868680"/>
            <a:ext cx="1097280" cy="1097280"/>
          </a:xfrm>
          <a:prstGeom prst="ellipse">
            <a:avLst/>
          </a:prstGeom>
          <a:solidFill>
            <a:srgbClr val="0A1F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011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1st-Party Qualitative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359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customers say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1097280" cy="1097280"/>
          </a:xfrm>
          <a:prstGeom prst="ellipse">
            <a:avLst/>
          </a:prstGeom>
          <a:solidFill>
            <a:srgbClr val="0A1F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3520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1st-Party Quantitative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" y="38679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customers 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1097280" cy="1097280"/>
          </a:xfrm>
          <a:prstGeom prst="ellipse">
            <a:avLst/>
          </a:prstGeom>
          <a:solidFill>
            <a:srgbClr val="0A1F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520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3rd-Party Market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38679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market is doing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92240" y="1600200"/>
            <a:ext cx="2377440" cy="1005840"/>
          </a:xfrm>
          <a:prstGeom prst="rect">
            <a:avLst/>
          </a:prstGeom>
          <a:solidFill>
            <a:srgbClr val="0A1F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Opportunity Brief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signals converge: high-confidence strategy.  Where they conflict: the tension worth examining.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Developed during MBA internship at Dell (End User Computing strategy) under Ansgar Chorhummel · Confirmed at Magellan GPS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Two surfaces. One system.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5204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Command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CPO · VP of Product · Head of Strategy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Open strategic questions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Review &amp; accept Briefs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Manage OKR cascade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Monitor strategic health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Respond to alerts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069080" cy="3520440"/>
          </a:xfrm>
          <a:prstGeom prst="rect">
            <a:avLst/>
          </a:prstGeom>
          <a:solidFill>
            <a:srgbClr val="F6F5F1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914400"/>
            <a:ext cx="4069080" cy="438912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87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Execution Surfaces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444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PMs · Engineering Leads · Delivery Teams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874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Jira — strategic context on every epic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514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Confluence — Briefs &amp; OKRs as system of record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154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Slack — Strategic Instinct alerts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45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A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Same intelligence layer, different surfaces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Three things just changed.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033272"/>
            <a:ext cx="512064" cy="512064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332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99669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shut down Viva Goals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399032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December 2025 — thousands of organizations lost their OKR infrastructure overnight. The strategy alignment gap is open and uncontested.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2267712"/>
            <a:ext cx="512064" cy="512064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2677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23113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Ecosystem convergence is documented, not inferred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Miro's March 2026 commissioned Forrester/HBR research explicitly names planning, roadmapping, and OKR management as active product priorities. Every major platform is building toward strategic intelligence from an adjacent position. None have reached cross-source synthesis. The window is 12–18 months.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3566160"/>
            <a:ext cx="512064" cy="512064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5661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52958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Learning speed replaces execution speed as the moat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Individual AI productivity gains are real but not translating to organizational value — 76% of product leaders confirm this. The companies that pull ahead will be the ones whose organizational intelligence compounds over time. That requires infrastructure, not just tools.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 $180M–$420M serviceable market — and a much larger displacement opportunity.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846320" cy="914400"/>
          </a:xfrm>
          <a:prstGeom prst="rect">
            <a:avLst/>
          </a:prstGeom>
          <a:solidFill>
            <a:srgbClr val="E8EDF4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0789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~$10–12B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264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mgmt + strategy execution + CI + AI analytics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4480560" cy="896112"/>
          </a:xfrm>
          <a:prstGeom prst="rect">
            <a:avLst/>
          </a:prstGeom>
          <a:solidFill>
            <a:srgbClr val="C8D4E8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2140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103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$180–420M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4505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6,000–7,000 Series B–D companies at $30K–60K platform ACV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035808"/>
            <a:ext cx="4114800" cy="804672"/>
          </a:xfrm>
          <a:prstGeom prst="rect">
            <a:avLst/>
          </a:prstGeom>
          <a:solidFill>
            <a:srgbClr val="0A1F44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272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~$6.5M ARR Y3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456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1–2% SAM penetration at midpoint ACV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338328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005840"/>
            <a:ext cx="338328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0241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the SaaS market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96128" y="1444752"/>
            <a:ext cx="31638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Series B–D companies currently either go without rigorous strategic analysis or pay $50K–$500K per engagement.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Zavari is the fourth option — McKinsey-quality strategic synthesis, continuous, at a SaaS price point.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ACV model — not per-seat — justified by intelligence infrastructure value.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Platform + seat. Justified by intelligence infrastructure, not headcount.</a:t>
            </a:r>
            <a:endParaRPr lang="en-US" sz="2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covers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F4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Platform fee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F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$18K–$24K/year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7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Triangulation Engine · Signal Architecture · Strategic Learning Layer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F4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Creator seats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F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$150–200/seat/mo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7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CPO · VP Product · senior PMs in command layer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F4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Contributor access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1F4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Included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7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Executives &amp; delivery teams viewing outputs in native tools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10-person org (4 Creator seats)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0" y="29260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~$29K/year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20-person org (6 Creator seats)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3383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~$37K/year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Year 1–2: Platform + seat  →  Year 2–3: Outcome-based pricing tier  →  Year 3+: API &amp; marketplace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Founder-led to $1M ARR. Then the flywheel.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7840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Partner Program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Months 1–9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5–10 partners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797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$10K–20K/year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3467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Founder network, Expedia/Virtuoso/Porch alumni, LinkedIn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97840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Early Commercial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18653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Months 9–18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2128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25–40 customers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7797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$40K–60K ACV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33467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LinkedIn, integration marketplaces, referrals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743200" cy="4754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97840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463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Ecosystem + Community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18653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Months 18–36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2128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First sales hire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77977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Co-selling: Amplitude, Dovetail, Miro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33467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Annual Strategic Intelligence Report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8412480" cy="658368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A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[Design partner case study — specific strategic decision traceable to revenue outcome — Q3 2026]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Built by someone who lived the problem.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2461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24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Matt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Expedia Group · Virtuoso Travel · Porch Group · Magellan GPS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2176272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762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125% margin growth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" y="257860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786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35% CLV increase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" y="2980944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809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 planning cycle acceleration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493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MBA, UT Austin McCombs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767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Triangulation Engine: developed at Dell (MBA internship, Ansgar Chorhummel) · confirmed at Magellan GPS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069080" cy="3246120"/>
          </a:xfrm>
          <a:prstGeom prst="rect">
            <a:avLst/>
          </a:prstGeom>
          <a:solidFill>
            <a:srgbClr val="F6F5F1"/>
          </a:solidFill>
          <a:ln w="19050">
            <a:solidFill>
              <a:srgbClr val="E0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515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Technical Co-Founder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14447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Actively recruiting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84708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AI/ML engineering · multi-agent systems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44144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Product tooling ecosystem experience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03580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17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 Equity-motivated seed-stage mindset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Sourced from Expedia, Porch, Virtuoso, UT Austin McCombs alumni networks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315968"/>
            <a:ext cx="2560320" cy="393192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31596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[Senior Product Leader]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4315968"/>
            <a:ext cx="2560320" cy="393192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431596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[Enterprise AI / LLM]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4315968"/>
            <a:ext cx="2560320" cy="393192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431596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[B2B SaaS GTM]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$1.5M–$2.5M to prove the intelligence layer.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046720" cy="457200"/>
          </a:xfrm>
          <a:prstGeom prst="rect">
            <a:avLst/>
          </a:prstGeom>
          <a:solidFill>
            <a:srgbClr val="132C52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78992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co-founder recruitment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49440" y="107899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25–30%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046720" cy="457200"/>
          </a:xfrm>
          <a:prstGeom prst="rect">
            <a:avLst/>
          </a:prstGeom>
          <a:solidFill>
            <a:srgbClr val="0F234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 and product development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0" y="162763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35–40%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046720" cy="457200"/>
          </a:xfrm>
          <a:prstGeom prst="rect">
            <a:avLst/>
          </a:prstGeom>
          <a:solidFill>
            <a:srgbClr val="132C52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76272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partner program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17627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046720" cy="457200"/>
          </a:xfrm>
          <a:prstGeom prst="rect">
            <a:avLst/>
          </a:prstGeom>
          <a:solidFill>
            <a:srgbClr val="0F2346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24912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Sales, marketing, community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272491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046720" cy="457200"/>
          </a:xfrm>
          <a:prstGeom prst="rect">
            <a:avLst/>
          </a:prstGeom>
          <a:solidFill>
            <a:srgbClr val="132C52"/>
          </a:solidFill>
          <a:ln w="12700">
            <a:solidFill>
              <a:srgbClr val="1E3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73552"/>
            <a:ext cx="6217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Legal, compliance, infrastructure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327355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The tools exist. What's missing is the OS that makes them work as one.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44622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18–24 month runway  ·  Series A readiness at ~$1M ARR  ·  3–5 revenue-attributable decisions documented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17720"/>
            <a:ext cx="731520" cy="75027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A9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Zavari — Strategic Intelligence for Product Organizations</dc:title>
  <dc:subject>PptxGenJS Presentation</dc:subject>
  <dc:creator>Matt</dc:creator>
  <cp:lastModifiedBy>Matt</cp:lastModifiedBy>
  <cp:revision>1</cp:revision>
  <dcterms:created xsi:type="dcterms:W3CDTF">2026-04-14T19:41:20Z</dcterms:created>
  <dcterms:modified xsi:type="dcterms:W3CDTF">2026-04-14T19:41:20Z</dcterms:modified>
</cp:coreProperties>
</file>